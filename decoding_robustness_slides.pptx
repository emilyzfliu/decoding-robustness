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222222"/>
                </a:solidFill>
                <a:latin typeface="Arial"/>
              </a:rPr>
              <a:t>Decoding Robustness: How Perturbations Propagate Through LMs</a:t>
            </a:r>
          </a:p>
          <a:p>
            <a:r>
              <a:rPr sz="1800" b="0" i="0">
                <a:solidFill>
                  <a:srgbClr val="2166AC"/>
                </a:solidFill>
                <a:latin typeface="Arial"/>
              </a:rPr>
              <a:t>A representation-metric confound — and a cross-family (absolute vs RoPE)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666666"/>
                </a:solidFill>
                <a:latin typeface="Arial"/>
              </a:rPr>
              <a:t>GPT-2 (124M) · OPT-6.7B · Llama-3.1-8B · Qwen2.5-7B   |   WikiText-2, 100 passages × 128 tokens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22222"/>
                </a:solidFill>
                <a:latin typeface="Arial"/>
              </a:rPr>
              <a:t>Setup: three perturbations, four models</a:t>
            </a:r>
          </a:p>
          <a:p>
            <a:r>
              <a:rPr sz="1500" b="0" i="1">
                <a:solidFill>
                  <a:srgbClr val="666666"/>
                </a:solidFill>
                <a:latin typeface="Arial"/>
              </a:rPr>
              <a:t>Each clean passage run twice — clean vs perturbed — and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71600"/>
            <a:ext cx="2926080" cy="3810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• Perturbations, each isolating one interface: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Char substitution → tokenizer disruption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Token substitution → lexical / semantic corruption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Token shuffling → positional corruption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• Metrics: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Behavioral: perplexity, output divergence, logit-KL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Representation: per-layer stripped cosine (content) + stripped CKA (geometry)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828800"/>
          <a:ext cx="4754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645920"/>
              </a:tblGrid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T="27432" marB="27432"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Params</a:t>
                      </a:r>
                    </a:p>
                  </a:txBody>
                  <a:tcPr marL="73152" marT="27432" marB="27432"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Pos. encoding</a:t>
                      </a:r>
                    </a:p>
                  </a:txBody>
                  <a:tcPr marL="73152" marT="27432" marB="27432">
                    <a:solidFill>
                      <a:srgbClr val="2166A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GPT-2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124M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learned absolute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OPT-6.7B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6.7B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learned absolute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Llama-3.1-8B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8B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RoPE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Qwen2.5-7B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7B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RoPE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66666"/>
                </a:solidFill>
                <a:latin typeface="Arial"/>
              </a:rPr>
              <a:t>Absolute vs RoPE at matched scale (~7–8B) is the controlled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22222"/>
                </a:solidFill>
                <a:latin typeface="Arial"/>
              </a:rPr>
              <a:t>Behavioral signatures differ by corruption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71600"/>
            <a:ext cx="2926080" cy="3810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ehaviora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375" y="1371600"/>
            <a:ext cx="562748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7373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• Char: front-loaded — 5% already flips half the output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• Token: explosive perplexity (valid-but-wrong = max surprise)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• Shuffle: gentlest — models robust to local word-order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D6604D"/>
                </a:solidFill>
                <a:latin typeface="Arial"/>
              </a:rPr>
              <a:t>• Severity char &lt; shuffle &lt; token holds across all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22222"/>
                </a:solidFill>
                <a:latin typeface="Arial"/>
              </a:rPr>
              <a:t>The representation metric was confounded</a:t>
            </a:r>
          </a:p>
          <a:p>
            <a:r>
              <a:rPr sz="1500" b="0" i="1">
                <a:solidFill>
                  <a:srgbClr val="666666"/>
                </a:solidFill>
                <a:latin typeface="Arial"/>
              </a:rPr>
              <a:t>Raw cosine 'recovered' to ~0.95 at the final layer even when outputs were totally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71600"/>
            <a:ext cx="2926080" cy="3810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Cause: massive activations (few 'rogue' dims implementing attention sinks)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Near-constant, huge magnitude → survive perturbation → fake 'similarity'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• Every off-the-shelf metric is fooled — differently: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880360"/>
          <a:ext cx="108813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651760"/>
                <a:gridCol w="3291840"/>
                <a:gridCol w="2834640"/>
              </a:tblGrid>
              <a:tr h="4343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T="27432" marB="27432"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Weights dims by</a:t>
                      </a:r>
                    </a:p>
                  </a:txBody>
                  <a:tcPr marL="73152" marT="27432" marB="27432"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Fooled by</a:t>
                      </a:r>
                    </a:p>
                  </a:txBody>
                  <a:tcPr marL="73152" marT="27432" marB="27432"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73152" marT="27432" marB="27432">
                    <a:solidFill>
                      <a:srgbClr val="2166A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Raw cosine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magnitude (+offset)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the huge offset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falsely HIGH (0.95)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Z-scored cosine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 / std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flat dims' noise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falsely LOW (0.04)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Plain CKA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preserved positional variance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falsely HIGH (0.999)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D6604D"/>
                </a:solidFill>
                <a:latin typeface="Arial"/>
              </a:rPr>
              <a:t>• Fix: drop the top-k highest-variance dims per layer, THEN measure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22222"/>
                </a:solidFill>
                <a:latin typeface="Arial"/>
              </a:rPr>
              <a:t>RoPE keeps a similarity that absolute models 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71600"/>
            <a:ext cx="2926080" cy="3810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presentation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7" y="1371600"/>
            <a:ext cx="7429484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82880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166AC"/>
                </a:solidFill>
                <a:latin typeface="Arial"/>
              </a:rPr>
              <a:t>• Top (CKA): RoPE (dashed) high plateau; absolute (solid) low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D6604D"/>
                </a:solidFill>
                <a:latin typeface="Arial"/>
              </a:rPr>
              <a:t>• Bottom (cosine): inverts — absolute higher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RoPE's high CKA = pure positional geometry — the confound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22222"/>
                </a:solidFill>
                <a:latin typeface="Arial"/>
              </a:rPr>
              <a:t>Two separable effects: positional encoding × depth</a:t>
            </a:r>
          </a:p>
          <a:p>
            <a:r>
              <a:rPr sz="1500" b="0" i="1">
                <a:solidFill>
                  <a:srgbClr val="666666"/>
                </a:solidFill>
                <a:latin typeface="Arial"/>
              </a:rPr>
              <a:t>After stripping the outlier dims, do the two metrics agree?   (cosine = content, CKA = geometry)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71600"/>
            <a:ext cx="2926080" cy="3810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74519"/>
          <a:ext cx="8778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T="27432" marB="27432"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Pos. encoding</a:t>
                      </a:r>
                    </a:p>
                  </a:txBody>
                  <a:tcPr marL="73152" marT="27432" marB="27432"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Early layers</a:t>
                      </a:r>
                    </a:p>
                  </a:txBody>
                  <a:tcPr marL="73152" marT="27432" marB="27432"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Late layers</a:t>
                      </a:r>
                    </a:p>
                  </a:txBody>
                  <a:tcPr marL="73152" marT="27432" marB="27432">
                    <a:solidFill>
                      <a:srgbClr val="2166A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GPT-2 (124M)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absolute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E7D32"/>
                          </a:solidFill>
                          <a:latin typeface="Arial"/>
                        </a:rPr>
                        <a:t>cosine ≈ CKA</a:t>
                      </a:r>
                    </a:p>
                  </a:txBody>
                  <a:tcPr marL="73152" marT="27432" marB="27432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E7D32"/>
                          </a:solidFill>
                          <a:latin typeface="Arial"/>
                        </a:rPr>
                        <a:t>cosine ≈ CKA</a:t>
                      </a:r>
                    </a:p>
                  </a:txBody>
                  <a:tcPr marL="73152" marT="27432" marB="27432"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OPT-6.7B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absolute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E7D32"/>
                          </a:solidFill>
                          <a:latin typeface="Arial"/>
                        </a:rPr>
                        <a:t>cosine ≈ CKA</a:t>
                      </a:r>
                    </a:p>
                  </a:txBody>
                  <a:tcPr marL="73152" marT="27432" marB="27432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A61C00"/>
                          </a:solidFill>
                          <a:latin typeface="Arial"/>
                        </a:rPr>
                        <a:t>cosine ≪ CKA</a:t>
                      </a:r>
                    </a:p>
                  </a:txBody>
                  <a:tcPr marL="73152" marT="27432" marB="27432">
                    <a:solidFill>
                      <a:srgbClr val="F6CFC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Llama-3.1-8B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RoPE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A61C00"/>
                          </a:solidFill>
                          <a:latin typeface="Arial"/>
                        </a:rPr>
                        <a:t>cosine ≪ CKA</a:t>
                      </a:r>
                    </a:p>
                  </a:txBody>
                  <a:tcPr marL="73152" marT="27432" marB="27432">
                    <a:solidFill>
                      <a:srgbClr val="F6CF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A61C00"/>
                          </a:solidFill>
                          <a:latin typeface="Arial"/>
                        </a:rPr>
                        <a:t>cosine ≪ CKA</a:t>
                      </a:r>
                    </a:p>
                  </a:txBody>
                  <a:tcPr marL="73152" marT="27432" marB="27432">
                    <a:solidFill>
                      <a:srgbClr val="F6CFC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Qwen2.5-7B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RoPE</a:t>
                      </a:r>
                    </a:p>
                  </a:txBody>
                  <a:tcPr marL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A61C00"/>
                          </a:solidFill>
                          <a:latin typeface="Arial"/>
                        </a:rPr>
                        <a:t>cosine ≪ CKA</a:t>
                      </a:r>
                    </a:p>
                  </a:txBody>
                  <a:tcPr marL="73152" marT="27432" marB="27432">
                    <a:solidFill>
                      <a:srgbClr val="F6CF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A61C00"/>
                          </a:solidFill>
                          <a:latin typeface="Arial"/>
                        </a:rPr>
                        <a:t>cosine ≪ CKA</a:t>
                      </a:r>
                    </a:p>
                  </a:txBody>
                  <a:tcPr marL="73152" marT="27432" marB="27432">
                    <a:solidFill>
                      <a:srgbClr val="F6CFC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66666"/>
                </a:solidFill>
                <a:latin typeface="Arial"/>
              </a:rPr>
              <a:t>cosine ≈ CKA → metrics converge (confound gone)      cosine ≪ CKA → gap persists (confound remains)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1521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166AC"/>
                </a:solidFill>
                <a:latin typeface="Arial"/>
              </a:rPr>
              <a:t>• Read DOWN ‘Early layers’ ↓ — absolute (OPT) converge; RoPE (Llama, Qwen) don’t</a:t>
            </a:r>
          </a:p>
          <a:p>
            <a:pPr lvl="1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  <a:latin typeface="Arial"/>
              </a:rPr>
              <a:t>– → positional encoding controls whether the metrics converge early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D6604D"/>
                </a:solidFill>
                <a:latin typeface="Arial"/>
              </a:rPr>
              <a:t>• Read ACROSS each row → — the gap re-opens with depth, even for absolute OPT</a:t>
            </a:r>
          </a:p>
          <a:p>
            <a:pPr lvl="1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  <a:latin typeface="Arial"/>
              </a:rPr>
              <a:t>– → a depth effect, independent of positional encoding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D6604D"/>
                </a:solidFill>
                <a:latin typeface="Arial"/>
              </a:rPr>
              <a:t>• So a persistent gap is NOT unique to RoPE — OPT (no RoPE) shows it 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22222"/>
                </a:solidFill>
                <a:latin typeface="Arial"/>
              </a:rPr>
              <a:t>Why does this happen?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71600"/>
            <a:ext cx="2926080" cy="3810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/>
            <a:r>
              <a:rPr sz="1700" b="1" i="0">
                <a:solidFill>
                  <a:srgbClr val="222222"/>
                </a:solidFill>
                <a:latin typeface="Arial"/>
              </a:rPr>
              <a:t>Char corruption changes the tokens — but keeps their POSITIONS fixed.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2222"/>
                </a:solidFill>
                <a:latin typeface="Arial"/>
              </a:rPr>
              <a:t>So the positional signal is identical in clean vs perturbed. A metric reading geometry (CKA) latches onto that shared signal → looks ‘similar’; a metric reading direction/content (cosine) sees the changed tokens → looks ‘different’.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5303520" cy="2468880"/>
          </a:xfrm>
          <a:prstGeom prst="rect">
            <a:avLst/>
          </a:prstGeom>
          <a:solidFill>
            <a:srgbClr val="FBECE9"/>
          </a:solidFill>
          <a:ln w="19050">
            <a:solidFill>
              <a:srgbClr val="D66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/>
          <a:lstStyle/>
          <a:p>
            <a:pPr algn="ctr"/>
            <a:r>
              <a:rPr sz="1700" b="1" i="0">
                <a:solidFill>
                  <a:srgbClr val="D6604D"/>
                </a:solidFill>
                <a:latin typeface="Arial"/>
              </a:rPr>
              <a:t>Absolute position  (GPT-2, OPT)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222222"/>
                </a:solidFill>
                <a:latin typeface="Arial"/>
              </a:rPr>
              <a:t>Position is stored in a FEW dimensions.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222222"/>
                </a:solidFill>
                <a:latin typeface="Arial"/>
              </a:rPr>
              <a:t>Drop those dims → the shared positional signal is gone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222222"/>
                </a:solidFill>
                <a:latin typeface="Arial"/>
              </a:rPr>
              <a:t>→ CKA falls to meet cosine.</a:t>
            </a:r>
          </a:p>
          <a:p>
            <a:pPr>
              <a:spcBef>
                <a:spcPts val="500"/>
              </a:spcBef>
            </a:pPr>
            <a:r>
              <a:rPr sz="1400" b="1" i="0">
                <a:solidFill>
                  <a:srgbClr val="222222"/>
                </a:solidFill>
                <a:latin typeface="Arial"/>
              </a:rPr>
              <a:t>Result: cosine and CKA CONVERGE (early layers)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200400"/>
            <a:ext cx="5303520" cy="2468880"/>
          </a:xfrm>
          <a:prstGeom prst="rect">
            <a:avLst/>
          </a:prstGeom>
          <a:solidFill>
            <a:srgbClr val="E8F0F7"/>
          </a:solidFill>
          <a:ln w="19050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/>
          <a:lstStyle/>
          <a:p>
            <a:pPr algn="ctr"/>
            <a:r>
              <a:rPr sz="1700" b="1" i="0">
                <a:solidFill>
                  <a:srgbClr val="2166AC"/>
                </a:solidFill>
                <a:latin typeface="Arial"/>
              </a:rPr>
              <a:t>RoPE  (Llama, Qwen)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222222"/>
                </a:solidFill>
                <a:latin typeface="Arial"/>
              </a:rPr>
              <a:t>Position is spread across ALL dimensions (rotations).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222222"/>
                </a:solidFill>
                <a:latin typeface="Arial"/>
              </a:rPr>
              <a:t>There is no small set of dims to drop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222222"/>
                </a:solidFill>
                <a:latin typeface="Arial"/>
              </a:rPr>
              <a:t>→ CKA stays pinned high (~0.8).</a:t>
            </a:r>
          </a:p>
          <a:p>
            <a:pPr>
              <a:spcBef>
                <a:spcPts val="500"/>
              </a:spcBef>
            </a:pPr>
            <a:r>
              <a:rPr sz="1400" b="1" i="0">
                <a:solidFill>
                  <a:srgbClr val="222222"/>
                </a:solidFill>
                <a:latin typeface="Arial"/>
              </a:rPr>
              <a:t>Result: the cosine–CKA GAP PERSISTS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66666"/>
                </a:solidFill>
                <a:latin typeface="Arial"/>
              </a:rPr>
              <a:t>With depth, position spreads out even in absolute models → the gap re-opens in their late layers too.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22222"/>
                </a:solidFill>
                <a:latin typeface="Arial"/>
              </a:rPr>
              <a:t>Takeaways &amp; open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71600"/>
            <a:ext cx="2926080" cy="3810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2166AC"/>
                </a:solidFill>
                <a:latin typeface="Arial"/>
              </a:rPr>
              <a:t>• Takeaways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Off-the-shelf representation-similarity metrics are confounded by massive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activations — always strip outlier dims before interpreting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The strip budget k is model-specific (k=5 for GPT-2; wide models need more,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or never converge under RoPE)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Absolute vs RoPE produce qualitatively different geometry under perturbation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D6604D"/>
                </a:solidFill>
                <a:latin typeface="Arial"/>
              </a:rPr>
              <a:t>• Open questions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Disentangle depth vs positional encoding at matched depth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Phase 2: attention / head-ablation (GQA complicates single-head study)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– Char-perplexity non-monotonicity; k-sensitivity sweep for publication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